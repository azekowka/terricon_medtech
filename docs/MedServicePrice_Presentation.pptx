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540" dirty="0"/>
          </a:p>
        </p:txBody>
      </p:sp>
      <p:sp>
        <p:nvSpPr>
          <p:cNvPr id="6" name="Text 4"/>
          <p:cNvSpPr/>
          <p:nvPr/>
        </p:nvSpPr>
        <p:spPr>
          <a:xfrm>
            <a:off x="1600200" y="777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MedServicePrice.kz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8778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цен на медицинские услуги в Казахстане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«Aviasales для медицины»: один поиск вместо десятков сайтов клиник 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D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анализы, приёмы врачей и диагностика по лучшей цене рядом с вами.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257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22960" y="5806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5257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971800" y="5806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5257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120640" y="5806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клиники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269480" y="5257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269480" y="5806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источников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2025 · Кейс 1 · Рабочий MVP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и решение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4F8F8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40" dirty="0"/>
          </a:p>
        </p:txBody>
      </p:sp>
      <p:sp>
        <p:nvSpPr>
          <p:cNvPr id="6" name="Text 4"/>
          <p:cNvSpPr/>
          <p:nvPr/>
        </p:nvSpPr>
        <p:spPr>
          <a:xfrm>
            <a:off x="1737360" y="178308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 непрозрачен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 вручную обходит десятки сайтов клиник, чтобы сравнить цену анализа или приёма.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3538728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 нигде не агрегированы, форматы разные (HTML, PDF, прайсы).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4379976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и та же услуга названа по-разному: «ОАК», «CBC», «Клинический анализ крови».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14400" y="5221224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Непонятно, насколько цена актуальна.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263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0E7C7B"/>
          </a:solidFill>
          <a:ln/>
        </p:spPr>
      </p:sp>
      <p:sp>
        <p:nvSpPr>
          <p:cNvPr id="12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40" dirty="0"/>
          </a:p>
        </p:txBody>
      </p:sp>
      <p:sp>
        <p:nvSpPr>
          <p:cNvPr id="14" name="Text 12"/>
          <p:cNvSpPr/>
          <p:nvPr/>
        </p:nvSpPr>
        <p:spPr>
          <a:xfrm>
            <a:off x="7452360" y="178308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Единая платформа цен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629400" y="26974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Автосбор прайсов из открытых источников + хранение «сырого» слоя для аудита.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629400" y="3538728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названий к единому справочнику услуг (синонимы + нечёткий матч).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29400" y="4379976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с автодополнением, фильтры, сортировка по цене и расстоянию.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29400" y="5221224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обновления у каждой цены — прозрачность для пациента.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Архитектура: три слоя данных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E7C7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PDF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XLSX · DOCX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42032" y="182880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88036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288036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RAW-слой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8036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raw_prices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(аудит ≥90 дн.)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73752" y="182880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21208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Нормализация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rapidfuzz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205472" y="182880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4380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75438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54380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дедуп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история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37192" y="182880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7552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B132B"/>
          </a:solidFill>
          <a:ln/>
        </p:spPr>
      </p:sp>
      <p:sp>
        <p:nvSpPr>
          <p:cNvPr id="20" name="Text 18"/>
          <p:cNvSpPr/>
          <p:nvPr/>
        </p:nvSpPr>
        <p:spPr>
          <a:xfrm>
            <a:off x="987552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Веб-интерфейс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87552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· карта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8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41605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10" dirty="0"/>
          </a:p>
        </p:txBody>
      </p:sp>
      <p:sp>
        <p:nvSpPr>
          <p:cNvPr id="25" name="Text 23"/>
          <p:cNvSpPr/>
          <p:nvPr/>
        </p:nvSpPr>
        <p:spPr>
          <a:xfrm>
            <a:off x="1417320" y="4206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Отказоустойчивость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48463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падение одного источника не останавливает сбор с остальных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343400" y="393192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8F8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0" y="41605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10" dirty="0"/>
          </a:p>
        </p:txBody>
      </p:sp>
      <p:sp>
        <p:nvSpPr>
          <p:cNvPr id="30" name="Text 28"/>
          <p:cNvSpPr/>
          <p:nvPr/>
        </p:nvSpPr>
        <p:spPr>
          <a:xfrm>
            <a:off x="5212080" y="4206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Дедупликация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17720" y="48463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парсинг обновляет запись, а не плодит дубли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138160" y="393192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8F8"/>
          </a:solidFill>
          <a:ln/>
        </p:spPr>
      </p:sp>
      <p:sp>
        <p:nvSpPr>
          <p:cNvPr id="33" name="Shape 31"/>
          <p:cNvSpPr/>
          <p:nvPr/>
        </p:nvSpPr>
        <p:spPr>
          <a:xfrm>
            <a:off x="8366760" y="41605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4" name="Text 32"/>
          <p:cNvSpPr/>
          <p:nvPr/>
        </p:nvSpPr>
        <p:spPr>
          <a:xfrm>
            <a:off x="836676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10" dirty="0"/>
          </a:p>
        </p:txBody>
      </p:sp>
      <p:sp>
        <p:nvSpPr>
          <p:cNvPr id="35" name="Text 33"/>
          <p:cNvSpPr/>
          <p:nvPr/>
        </p:nvSpPr>
        <p:spPr>
          <a:xfrm>
            <a:off x="9006840" y="4206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Масштабируемость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источник = 1 класс-парсер, ядро не меняется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Нормализация — ядро качества данных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1C2A45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«ОАК»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67712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1C2A4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67712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«CBC»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980944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1C2A4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80944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«Клинический анализ крови»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1C2A4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94176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«Общий анализ крови с лейкоформулой»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194560"/>
            <a:ext cx="73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760720" y="2057400"/>
            <a:ext cx="5760720" cy="13716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0" y="219456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Общий анализ крови (ОАК)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943600" y="2788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3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позиция официального справочника (1230 услуг)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160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названий привязано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89120" y="4160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1230 / 122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389120" y="49377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 в справочнике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специальности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38160" y="4160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unmatched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138160" y="49377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ручной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разметки + дообучение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Возможности интерфейса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30" dirty="0"/>
          </a:p>
        </p:txBody>
      </p:sp>
      <p:sp>
        <p:nvSpPr>
          <p:cNvPr id="6" name="Text 4"/>
          <p:cNvSpPr/>
          <p:nvPr/>
        </p:nvSpPr>
        <p:spPr>
          <a:xfrm>
            <a:off x="1600200" y="16459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Поиск + автодополнение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21305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справочнику, понимает синонимы и сокращения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18288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30" dirty="0"/>
          </a:p>
        </p:txBody>
      </p:sp>
      <p:sp>
        <p:nvSpPr>
          <p:cNvPr id="11" name="Text 9"/>
          <p:cNvSpPr/>
          <p:nvPr/>
        </p:nvSpPr>
        <p:spPr>
          <a:xfrm>
            <a:off x="7315200" y="16459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Фильтры и сортировки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0" y="21305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город, категория, цена, рейтинг, онлайн-запись, расстояние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3429000"/>
            <a:ext cx="594360" cy="5943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4290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30" dirty="0"/>
          </a:p>
        </p:txBody>
      </p:sp>
      <p:sp>
        <p:nvSpPr>
          <p:cNvPr id="16" name="Text 14"/>
          <p:cNvSpPr/>
          <p:nvPr/>
        </p:nvSpPr>
        <p:spPr>
          <a:xfrm>
            <a:off x="1600200" y="32461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клиник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00200" y="37307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предложений с выделением лучшей цены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30175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537960" y="34290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4290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30" dirty="0"/>
          </a:p>
        </p:txBody>
      </p:sp>
      <p:sp>
        <p:nvSpPr>
          <p:cNvPr id="21" name="Text 19"/>
          <p:cNvSpPr/>
          <p:nvPr/>
        </p:nvSpPr>
        <p:spPr>
          <a:xfrm>
            <a:off x="7315200" y="32461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История изменения цен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15200" y="37307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динамики по каждой клинике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6177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24" name="Shape 22"/>
          <p:cNvSpPr/>
          <p:nvPr/>
        </p:nvSpPr>
        <p:spPr>
          <a:xfrm>
            <a:off x="822960" y="5029200"/>
            <a:ext cx="594360" cy="5943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029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30" dirty="0"/>
          </a:p>
        </p:txBody>
      </p:sp>
      <p:sp>
        <p:nvSpPr>
          <p:cNvPr id="26" name="Text 24"/>
          <p:cNvSpPr/>
          <p:nvPr/>
        </p:nvSpPr>
        <p:spPr>
          <a:xfrm>
            <a:off x="1600200" y="48463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Карта клиник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00200" y="53309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Leaflet-маркеры + маршрут в 2GIS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63640" y="46177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537960" y="50292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5029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30" dirty="0"/>
          </a:p>
        </p:txBody>
      </p:sp>
      <p:sp>
        <p:nvSpPr>
          <p:cNvPr id="31" name="Text 29"/>
          <p:cNvSpPr/>
          <p:nvPr/>
        </p:nvSpPr>
        <p:spPr>
          <a:xfrm>
            <a:off x="7315200" y="48463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Подписка на цену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315200" y="53309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уведомление при снижении до целевой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Данные, охват и стек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8132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084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актуальных цен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3400" y="137160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4526280" y="148132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26280" y="2084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клиники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48132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321040" y="2084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0720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31520" y="34107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 (справочник)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43400" y="269748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280720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26280" y="34107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источников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69748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/>
        </p:spPr>
      </p:sp>
      <p:sp>
        <p:nvSpPr>
          <p:cNvPr id="19" name="Text 17"/>
          <p:cNvSpPr/>
          <p:nvPr/>
        </p:nvSpPr>
        <p:spPr>
          <a:xfrm>
            <a:off x="8321040" y="280720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321040" y="34107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нормализовано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251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Технологический стек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Парсинг: Python · httpx · BeautifulSoup · pdfplumber · openpyxl · rapidfuzz (HTML/PDF/XLSX/DOCX)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FastAPI · SQLAlchemy 2.0 · APScheduler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БД: PostgreSQL (prod) / SQLite (dev)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Next.js 14 · TypeScript · Tailwind · Leaflet · Recharts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Деплой: Docker · docker-compose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023360" cy="40233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-1280160"/>
            <a:ext cx="3291840" cy="32918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развития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7" name="Text 5"/>
          <p:cNvSpPr/>
          <p:nvPr/>
        </p:nvSpPr>
        <p:spPr>
          <a:xfrm>
            <a:off x="1600200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Больше источников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1214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PDF/DOCX/Excel-прайсы, расширение городов и регионов РК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76148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7614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1" name="Text 9"/>
          <p:cNvSpPr/>
          <p:nvPr/>
        </p:nvSpPr>
        <p:spPr>
          <a:xfrm>
            <a:off x="1600200" y="27157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AI-нормализация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145536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LLM-сопоставление сложных «чек-апов» и комплексов услуг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85616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856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5" name="Text 13"/>
          <p:cNvSpPr/>
          <p:nvPr/>
        </p:nvSpPr>
        <p:spPr>
          <a:xfrm>
            <a:off x="1600200" y="373989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Геопоиск и запись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416966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2GIS/картами, онлайн-запись в клиники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4809744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80974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40" dirty="0"/>
          </a:p>
        </p:txBody>
      </p:sp>
      <p:sp>
        <p:nvSpPr>
          <p:cNvPr id="19" name="Text 17"/>
          <p:cNvSpPr/>
          <p:nvPr/>
        </p:nvSpPr>
        <p:spPr>
          <a:xfrm>
            <a:off x="1600200" y="476402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Уведомления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519379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e-mail/Telegram-алерты о снижении цены, дашборд трендов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943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Спасибо! · MedServicePrice.kz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2026-06-26T12:22:39Z</dcterms:created>
  <dcterms:modified xsi:type="dcterms:W3CDTF">2026-06-26T12:22:39Z</dcterms:modified>
</cp:coreProperties>
</file>